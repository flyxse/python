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notesMasterIdLst>
    <p:notesMasterId r:id="rId37"/>
  </p:notesMasterIdLst>
  <p:sldIdLst>
    <p:sldId id="256" r:id="rId3"/>
    <p:sldId id="257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14" r:id="rId31"/>
    <p:sldId id="350" r:id="rId32"/>
    <p:sldId id="351" r:id="rId33"/>
    <p:sldId id="352" r:id="rId34"/>
    <p:sldId id="353" r:id="rId35"/>
    <p:sldId id="258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Roboto Slab" panose="020B0604020202020204" charset="0"/>
      <p:regular r:id="rId42"/>
    </p:embeddedFont>
    <p:embeddedFont>
      <p:font typeface="Open Sans" panose="020B0604020202020204" charset="0"/>
      <p:regular r:id="rId43"/>
      <p:bold r:id="rId44"/>
      <p:italic r:id="rId45"/>
      <p:boldItalic r:id="rId4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C3E6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4" autoAdjust="0"/>
    <p:restoredTop sz="95700" autoAdjust="0"/>
  </p:normalViewPr>
  <p:slideViewPr>
    <p:cSldViewPr snapToGrid="0" showGuides="1">
      <p:cViewPr varScale="1">
        <p:scale>
          <a:sx n="93" d="100"/>
          <a:sy n="93" d="100"/>
        </p:scale>
        <p:origin x="1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95F06-ED52-4BDF-88F4-02A9B6E9E9C9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F99CF-8BA2-4799-A16E-0292254898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18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565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81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54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782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5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358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873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875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776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10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58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493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35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405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098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256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91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15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581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19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298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20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127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463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78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0364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623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9176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597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5235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Длинные строки текста воспринимаются хуже коротких. Если есть возможность, текстовые блоки лучше разбивать на колонки.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28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290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Такого</a:t>
            </a:r>
            <a:r>
              <a:rPr lang="ru-RU" baseline="0" dirty="0"/>
              <a:t> рода инфу можно размещать на контрастном слайде.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1E0E06-5A83-4907-924B-CCA8D8A71266}" type="slidenum">
              <a:rPr lang="ru-RU" smtClean="0">
                <a:solidFill>
                  <a:prstClr val="black"/>
                </a:solidFill>
              </a:rPr>
              <a:pPr/>
              <a:t>34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17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91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46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55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4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94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3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3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59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71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3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438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87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109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099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46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046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056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381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02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57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54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377"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37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92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fld id="{1983A9A6-A7C6-4281-A39F-5DC6615D86C6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377"/>
              <a:t>29.10.2024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77"/>
            <a:fld id="{416F8C33-7088-481A-939B-C850E0D4CDC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91437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88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8367" y="6028057"/>
            <a:ext cx="5378451" cy="6564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377"/>
            <a:r>
              <a:rPr lang="ru-RU" sz="2133" dirty="0">
                <a:solidFill>
                  <a:prstClr val="white">
                    <a:alpha val="80000"/>
                  </a:prstClr>
                </a:solidFill>
                <a:latin typeface="Roboto Slab"/>
              </a:rPr>
              <a:t>Инструментальное программное обеспечение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367" y="4704933"/>
            <a:ext cx="5378451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defTabSz="914377"/>
            <a:r>
              <a:rPr lang="ru-RU" sz="4000" dirty="0" smtClean="0">
                <a:solidFill>
                  <a:prstClr val="white"/>
                </a:solidFill>
                <a:latin typeface="Roboto Slab"/>
              </a:rPr>
              <a:t>Функции, модули и пакеты</a:t>
            </a:r>
            <a:endParaRPr lang="ru-RU" sz="4000" dirty="0">
              <a:solidFill>
                <a:prstClr val="white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190971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9204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>
                <a:solidFill>
                  <a:srgbClr val="002060"/>
                </a:solidFill>
              </a:rPr>
              <a:t>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1" y="1530903"/>
            <a:ext cx="108207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Функции – это многократно используемые фрагменты программы. Они позволяют дать имя определённому блоку команд с тем, чтобы в последствии запускать этот блок по указанному имени в любом месте программы и сколь угодно много раз. Это называется вызовом функции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Функции определяются при помощи зарезервированного слова def. После этого слова указывается имя функции, за которым следует пара скобок, в которых можно указать имена некоторых переменных, и двоеточие в конце строки. Далее следует блок команд, составляющих функцию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Функцию можно вызвать из различных мест программы, что позволяет избежать повторения программного кода.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0156" y="4608848"/>
            <a:ext cx="5831687" cy="120032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имя_функции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(параметры):</a:t>
            </a:r>
            <a:br>
              <a:rPr lang="ru-RU" sz="2400" b="1" dirty="0">
                <a:solidFill>
                  <a:srgbClr val="002060"/>
                </a:solidFill>
                <a:latin typeface="Courier New"/>
              </a:rPr>
            </a:br>
            <a:r>
              <a:rPr lang="ru-RU" sz="2400" b="1" dirty="0">
                <a:solidFill>
                  <a:srgbClr val="002060"/>
                </a:solidFill>
                <a:latin typeface="Courier New"/>
              </a:rPr>
              <a:t>    """строка документации"""</a:t>
            </a:r>
            <a:br>
              <a:rPr lang="ru-RU" sz="2400" b="1" dirty="0">
                <a:solidFill>
                  <a:srgbClr val="002060"/>
                </a:solidFill>
                <a:latin typeface="Courier New"/>
              </a:rPr>
            </a:br>
            <a:r>
              <a:rPr lang="ru-RU" sz="2400" b="1" dirty="0">
                <a:solidFill>
                  <a:srgbClr val="002060"/>
                </a:solidFill>
                <a:latin typeface="Courier New"/>
              </a:rPr>
              <a:t>    операторы 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6190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39204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 smtClean="0">
                <a:solidFill>
                  <a:srgbClr val="002060"/>
                </a:solidFill>
              </a:rPr>
              <a:t>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1" y="1530903"/>
            <a:ext cx="108207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Функции 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можно разделить на два типа: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Встроенные функции — функции, встроенные 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Пользовательские функции — функции, созданные пользователями. Чтобы их использовать, нужно устанавливать дополнительные файлы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Примеры встроенных функций в </a:t>
            </a:r>
            <a:r>
              <a:rPr lang="ru-RU" dirty="0" err="1" smtClean="0">
                <a:solidFill>
                  <a:srgbClr val="002060"/>
                </a:solidFill>
              </a:rPr>
              <a:t>Python</a:t>
            </a:r>
            <a:r>
              <a:rPr lang="ru-RU" dirty="0" smtClean="0">
                <a:solidFill>
                  <a:srgbClr val="002060"/>
                </a:solidFill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abs</a:t>
            </a:r>
            <a:r>
              <a:rPr lang="ru-RU" dirty="0">
                <a:solidFill>
                  <a:srgbClr val="002060"/>
                </a:solidFill>
              </a:rPr>
              <a:t>(x</a:t>
            </a:r>
            <a:r>
              <a:rPr lang="ru-RU" dirty="0" smtClean="0">
                <a:solidFill>
                  <a:srgbClr val="002060"/>
                </a:solidFill>
              </a:rPr>
              <a:t>). Возвращает </a:t>
            </a:r>
            <a:r>
              <a:rPr lang="ru-RU" dirty="0">
                <a:solidFill>
                  <a:srgbClr val="002060"/>
                </a:solidFill>
              </a:rPr>
              <a:t>абсолютную величину (модуль числа).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bool</a:t>
            </a:r>
            <a:r>
              <a:rPr lang="ru-RU" dirty="0">
                <a:solidFill>
                  <a:srgbClr val="002060"/>
                </a:solidFill>
              </a:rPr>
              <a:t>([x</a:t>
            </a:r>
            <a:r>
              <a:rPr lang="ru-RU" dirty="0" smtClean="0">
                <a:solidFill>
                  <a:srgbClr val="002060"/>
                </a:solidFill>
              </a:rPr>
              <a:t>]). Преобразование </a:t>
            </a:r>
            <a:r>
              <a:rPr lang="ru-RU" dirty="0">
                <a:solidFill>
                  <a:srgbClr val="002060"/>
                </a:solidFill>
              </a:rPr>
              <a:t>к типу </a:t>
            </a:r>
            <a:r>
              <a:rPr lang="ru-RU" dirty="0" err="1">
                <a:solidFill>
                  <a:srgbClr val="002060"/>
                </a:solidFill>
              </a:rPr>
              <a:t>bool</a:t>
            </a:r>
            <a:r>
              <a:rPr lang="ru-RU" dirty="0">
                <a:solidFill>
                  <a:srgbClr val="002060"/>
                </a:solidFill>
              </a:rPr>
              <a:t>, использующая стандартную процедуру проверки истинности.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chr</a:t>
            </a:r>
            <a:r>
              <a:rPr lang="ru-RU" dirty="0">
                <a:solidFill>
                  <a:srgbClr val="002060"/>
                </a:solidFill>
              </a:rPr>
              <a:t>(i</a:t>
            </a:r>
            <a:r>
              <a:rPr lang="ru-RU" dirty="0" smtClean="0">
                <a:solidFill>
                  <a:srgbClr val="002060"/>
                </a:solidFill>
              </a:rPr>
              <a:t>). Возвращает </a:t>
            </a:r>
            <a:r>
              <a:rPr lang="ru-RU" dirty="0">
                <a:solidFill>
                  <a:srgbClr val="002060"/>
                </a:solidFill>
              </a:rPr>
              <a:t>символ по его числовому представлению.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complex</a:t>
            </a:r>
            <a:r>
              <a:rPr lang="ru-RU" dirty="0">
                <a:solidFill>
                  <a:srgbClr val="002060"/>
                </a:solidFill>
              </a:rPr>
              <a:t>([</a:t>
            </a:r>
            <a:r>
              <a:rPr lang="ru-RU" dirty="0" err="1">
                <a:solidFill>
                  <a:srgbClr val="002060"/>
                </a:solidFill>
              </a:rPr>
              <a:t>real</a:t>
            </a:r>
            <a:r>
              <a:rPr lang="ru-RU" dirty="0">
                <a:solidFill>
                  <a:srgbClr val="002060"/>
                </a:solidFill>
              </a:rPr>
              <a:t>[, </a:t>
            </a:r>
            <a:r>
              <a:rPr lang="ru-RU" dirty="0" err="1">
                <a:solidFill>
                  <a:srgbClr val="002060"/>
                </a:solidFill>
              </a:rPr>
              <a:t>imag</a:t>
            </a:r>
            <a:r>
              <a:rPr lang="ru-RU" dirty="0" smtClean="0">
                <a:solidFill>
                  <a:srgbClr val="002060"/>
                </a:solidFill>
              </a:rPr>
              <a:t>]]). Преобразование </a:t>
            </a:r>
            <a:r>
              <a:rPr lang="ru-RU" dirty="0">
                <a:solidFill>
                  <a:srgbClr val="002060"/>
                </a:solidFill>
              </a:rPr>
              <a:t>к комплексному числу.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float</a:t>
            </a:r>
            <a:r>
              <a:rPr lang="ru-RU" dirty="0">
                <a:solidFill>
                  <a:srgbClr val="002060"/>
                </a:solidFill>
              </a:rPr>
              <a:t>([x</a:t>
            </a:r>
            <a:r>
              <a:rPr lang="ru-RU" dirty="0" smtClean="0">
                <a:solidFill>
                  <a:srgbClr val="002060"/>
                </a:solidFill>
              </a:rPr>
              <a:t>]). Преобразование </a:t>
            </a:r>
            <a:r>
              <a:rPr lang="ru-RU" dirty="0">
                <a:solidFill>
                  <a:srgbClr val="002060"/>
                </a:solidFill>
              </a:rPr>
              <a:t>к числу с плавающей точкой. Если аргумент не указан, возвращается 0.0.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input</a:t>
            </a:r>
            <a:r>
              <a:rPr lang="ru-RU" dirty="0">
                <a:solidFill>
                  <a:srgbClr val="002060"/>
                </a:solidFill>
              </a:rPr>
              <a:t>([</a:t>
            </a:r>
            <a:r>
              <a:rPr lang="ru-RU" dirty="0" err="1">
                <a:solidFill>
                  <a:srgbClr val="002060"/>
                </a:solidFill>
              </a:rPr>
              <a:t>prompt</a:t>
            </a:r>
            <a:r>
              <a:rPr lang="ru-RU" dirty="0" smtClean="0">
                <a:solidFill>
                  <a:srgbClr val="002060"/>
                </a:solidFill>
              </a:rPr>
              <a:t>]). Считывает </a:t>
            </a:r>
            <a:r>
              <a:rPr lang="ru-RU" dirty="0">
                <a:solidFill>
                  <a:srgbClr val="002060"/>
                </a:solidFill>
              </a:rPr>
              <a:t>и возвращает строку входных данных.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int</a:t>
            </a:r>
            <a:r>
              <a:rPr lang="ru-RU" dirty="0">
                <a:solidFill>
                  <a:srgbClr val="002060"/>
                </a:solidFill>
              </a:rPr>
              <a:t>([x=0, [</a:t>
            </a:r>
            <a:r>
              <a:rPr lang="ru-RU" dirty="0" err="1">
                <a:solidFill>
                  <a:srgbClr val="002060"/>
                </a:solidFill>
              </a:rPr>
              <a:t>base</a:t>
            </a:r>
            <a:r>
              <a:rPr lang="ru-RU" dirty="0">
                <a:solidFill>
                  <a:srgbClr val="002060"/>
                </a:solidFill>
              </a:rPr>
              <a:t>=10</a:t>
            </a:r>
            <a:r>
              <a:rPr lang="ru-RU" dirty="0" smtClean="0">
                <a:solidFill>
                  <a:srgbClr val="002060"/>
                </a:solidFill>
              </a:rPr>
              <a:t>]]). Преобразует </a:t>
            </a:r>
            <a:r>
              <a:rPr lang="ru-RU" dirty="0">
                <a:solidFill>
                  <a:srgbClr val="002060"/>
                </a:solidFill>
              </a:rPr>
              <a:t>x к целому числу в десятичной системе счисления.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list</a:t>
            </a:r>
            <a:r>
              <a:rPr lang="ru-RU" dirty="0">
                <a:solidFill>
                  <a:srgbClr val="002060"/>
                </a:solidFill>
              </a:rPr>
              <a:t>([</a:t>
            </a:r>
            <a:r>
              <a:rPr lang="ru-RU" dirty="0" err="1">
                <a:solidFill>
                  <a:srgbClr val="002060"/>
                </a:solidFill>
              </a:rPr>
              <a:t>iterable</a:t>
            </a:r>
            <a:r>
              <a:rPr lang="ru-RU" dirty="0" smtClean="0">
                <a:solidFill>
                  <a:srgbClr val="002060"/>
                </a:solidFill>
              </a:rPr>
              <a:t>]). Создает </a:t>
            </a:r>
            <a:r>
              <a:rPr lang="ru-RU" dirty="0">
                <a:solidFill>
                  <a:srgbClr val="002060"/>
                </a:solidFill>
              </a:rPr>
              <a:t>список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20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76867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Компоненты 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1" y="1037744"/>
            <a:ext cx="1082075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Ключевое слово def — начало заголовка функции.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Имя функции — для однозначной идентификации функции. Оно соответствует правилам называния идентификаторов 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С помощью параметров (аргументов) мы передаем значения в функцию. Аргументов может и не быть.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Двоеточие : обозначает конец заголовка функции.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Необязательная строка документации (</a:t>
            </a:r>
            <a:r>
              <a:rPr lang="ru-RU" dirty="0" err="1">
                <a:solidFill>
                  <a:srgbClr val="002060"/>
                </a:solidFill>
              </a:rPr>
              <a:t>docstring</a:t>
            </a:r>
            <a:r>
              <a:rPr lang="ru-RU" dirty="0">
                <a:solidFill>
                  <a:srgbClr val="002060"/>
                </a:solidFill>
              </a:rPr>
              <a:t>) нужна для описания того, что делает функция.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Один или несколько операторов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составляют тело функции. Все инструкции должны иметь одинаковый отступ (4 пробела или 1 TAB).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Оператор </a:t>
            </a:r>
            <a:r>
              <a:rPr lang="ru-RU" dirty="0" err="1">
                <a:solidFill>
                  <a:srgbClr val="002060"/>
                </a:solidFill>
              </a:rPr>
              <a:t>return</a:t>
            </a:r>
            <a:r>
              <a:rPr lang="ru-RU" dirty="0">
                <a:solidFill>
                  <a:srgbClr val="002060"/>
                </a:solidFill>
              </a:rPr>
              <a:t> возвращает переданное значение из функции. Он необязателен.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395" y="4732138"/>
            <a:ext cx="9339210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great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name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err="1" smtClean="0">
                <a:solidFill>
                  <a:srgbClr val="002060"/>
                </a:solidFill>
                <a:latin typeface="Courier New"/>
              </a:rPr>
              <a:t>name.print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("Привет," +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name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+". Доброе утро!")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3305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342638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Вызов </a:t>
            </a:r>
            <a:r>
              <a:rPr lang="ru-RU" sz="3600" b="1" dirty="0" smtClean="0">
                <a:solidFill>
                  <a:srgbClr val="002060"/>
                </a:solidFill>
              </a:rPr>
              <a:t>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1" y="2003515"/>
            <a:ext cx="1082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После того, как мы определили функцию, мы можем вызвать ее в программе или даже из командной строки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. Чтобы вызвать функцию - вводим ее имя с соответствующими параметрами.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395" y="3039454"/>
            <a:ext cx="9339210" cy="120032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greet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name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):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err="1" smtClean="0">
                <a:solidFill>
                  <a:srgbClr val="002060"/>
                </a:solidFill>
                <a:latin typeface="Courier New"/>
              </a:rPr>
              <a:t>print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("Привет, " +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name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 + ". Доброе утро!")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greet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(‘Соня')</a:t>
            </a: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222" y="4627949"/>
            <a:ext cx="4205555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Courier New"/>
              </a:rPr>
              <a:t>Привет, Соня. Доброе утро!</a:t>
            </a:r>
            <a:endParaRPr lang="ru-RU" sz="2000" b="1" dirty="0">
              <a:solidFill>
                <a:srgbClr val="FF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0338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76867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Параметры </a:t>
            </a:r>
            <a:r>
              <a:rPr lang="ru-RU" sz="3600" b="1" dirty="0" smtClean="0">
                <a:solidFill>
                  <a:srgbClr val="002060"/>
                </a:solidFill>
              </a:rPr>
              <a:t>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2863" y="1167136"/>
            <a:ext cx="49000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Параметры функции – это некие входные данные, которые мы можем передать функции, чтобы получить соответствующий им результат.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вызывать одну и ту же функцию можно много раз, а значит нет необходимости писать один и тот же код снова и снова.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параметры похожи на переменные, за исключением того, что значение этих переменных указывается при вызове функции, и во время работы функции им уже присвоены их значения.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параметры указываются в скобках при объявлении функции и разделяются запятыми. Аналогично передаём значения, когда вызываем функцию.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96" y="1167136"/>
            <a:ext cx="6412787" cy="409342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printMax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(a, b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):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if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a &gt; b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: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print(a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,'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максимально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')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err="1" smtClean="0">
                <a:solidFill>
                  <a:srgbClr val="002060"/>
                </a:solidFill>
                <a:latin typeface="Courier New"/>
              </a:rPr>
              <a:t>elif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a == b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: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print(a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'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равно',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b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)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else: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print(b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'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максимально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')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 smtClean="0">
                <a:solidFill>
                  <a:srgbClr val="002060"/>
                </a:solidFill>
                <a:latin typeface="Courier New"/>
              </a:rPr>
              <a:t>printMax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(3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4)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прямая передача 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значений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×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= 7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y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=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5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 smtClean="0">
                <a:solidFill>
                  <a:srgbClr val="002060"/>
                </a:solidFill>
                <a:latin typeface="Courier New"/>
              </a:rPr>
              <a:t>printMax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(x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y)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передача переменных в качестве </a:t>
            </a:r>
            <a:r>
              <a:rPr lang="ru-RU" sz="2000" b="1" dirty="0" smtClean="0">
                <a:solidFill>
                  <a:srgbClr val="002060"/>
                </a:solidFill>
                <a:latin typeface="Courier New"/>
              </a:rPr>
              <a:t>аргументов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683" y="5639003"/>
            <a:ext cx="4205555" cy="70788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FF0000"/>
                </a:solidFill>
                <a:latin typeface="Courier New"/>
              </a:rPr>
              <a:t>4 максимально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FF0000"/>
                </a:solidFill>
                <a:latin typeface="Courier New"/>
              </a:rPr>
              <a:t>7 максимально</a:t>
            </a:r>
            <a:endParaRPr lang="ru-RU" sz="2000" b="1" dirty="0">
              <a:solidFill>
                <a:srgbClr val="FF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0019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97416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Оператор «</a:t>
            </a:r>
            <a:r>
              <a:rPr lang="en-US" sz="3600" b="1" dirty="0">
                <a:solidFill>
                  <a:srgbClr val="002060"/>
                </a:solidFill>
              </a:rPr>
              <a:t>return» 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0" y="1222679"/>
            <a:ext cx="1082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Оператор </a:t>
            </a:r>
            <a:r>
              <a:rPr lang="ru-RU" dirty="0" err="1">
                <a:solidFill>
                  <a:srgbClr val="002060"/>
                </a:solidFill>
              </a:rPr>
              <a:t>return</a:t>
            </a:r>
            <a:r>
              <a:rPr lang="ru-RU" dirty="0">
                <a:solidFill>
                  <a:srgbClr val="002060"/>
                </a:solidFill>
              </a:rPr>
              <a:t> используется для возврата из функции, т.е. для прекращения её работы и выхода из неё. При этом можно также вернуть некоторое значение из функции.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394" y="2179138"/>
            <a:ext cx="9339210" cy="304698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def maximum(x, y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):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if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x &gt; y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return x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err="1" smtClean="0">
                <a:solidFill>
                  <a:srgbClr val="002060"/>
                </a:solidFill>
                <a:latin typeface="Courier New"/>
              </a:rPr>
              <a:t>elif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x == y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return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Числа равны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.‘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else: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return y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print(maximum(2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, 3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))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146" y="5536255"/>
            <a:ext cx="513706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FF0000"/>
                </a:solidFill>
                <a:latin typeface="Courier New"/>
              </a:rPr>
              <a:t>3</a:t>
            </a:r>
            <a:endParaRPr lang="ru-RU" sz="2000" b="1" dirty="0">
              <a:solidFill>
                <a:srgbClr val="FF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0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597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Передача аргументов в функцию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0" y="1685016"/>
            <a:ext cx="108207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Аргумент - это любая порция данных, которая передается в функцию, когда функция вызывается. Параметр- это переменная, которая получает аргумент, переданный в функцию. Порции данных, которые отправляются в функцию, называются аргументами. Функция может использовать свои аргументы в вычислениях или других операциях.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Если требуется, чтобы функция получала аргументы, когда она вызывается, то необходимо оборудовать эту функцию одной или несколькими параметрическими переменными. Параметрическая переменная, часто именуемая просто параметром, - это специальная переменная, которой присваивается значение аргумента, когда функция вызывается. 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Пример функции с параметрической переменной: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003" y="4534301"/>
            <a:ext cx="4833991" cy="120032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def show double (number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):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result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= number * 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2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print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(result)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3558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597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Рекурсивные </a:t>
            </a:r>
            <a:r>
              <a:rPr lang="ru-RU" sz="3600" b="1" dirty="0" smtClean="0">
                <a:solidFill>
                  <a:srgbClr val="002060"/>
                </a:solidFill>
              </a:rPr>
              <a:t>функции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0" y="1685016"/>
            <a:ext cx="1082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Рекурсия — это тот случай, когда функция вызывает сама себя. 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Самый известный пример — вычисление факториала n! = n * n — 1 * n -2 * … 2 *1. 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Зная, что 0! = 1, факториал можно записать следующим образом: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066" y="2982904"/>
            <a:ext cx="6471865" cy="193899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def factorial(n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):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if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n != 0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return n*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factorial(n-1)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else: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return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1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6857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2076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Передача многочисленных аргументов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20" y="1397339"/>
            <a:ext cx="1082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Часто имеет смысл писать функции, которые могут принимать многочисленные аргументы.</a:t>
            </a:r>
          </a:p>
          <a:p>
            <a:pPr algn="just"/>
            <a:r>
              <a:rPr lang="ru-RU" dirty="0" smtClean="0">
                <a:solidFill>
                  <a:srgbClr val="002060"/>
                </a:solidFill>
              </a:rPr>
              <a:t>В </a:t>
            </a:r>
            <a:r>
              <a:rPr lang="ru-RU" dirty="0">
                <a:solidFill>
                  <a:srgbClr val="002060"/>
                </a:solidFill>
              </a:rPr>
              <a:t>примере показана функция </a:t>
            </a:r>
            <a:r>
              <a:rPr lang="ru-RU" dirty="0" err="1">
                <a:solidFill>
                  <a:srgbClr val="002060"/>
                </a:solidFill>
              </a:rPr>
              <a:t>show_sum</a:t>
            </a:r>
            <a:r>
              <a:rPr lang="ru-RU" dirty="0">
                <a:solidFill>
                  <a:srgbClr val="002060"/>
                </a:solidFill>
              </a:rPr>
              <a:t>, которая принимает два аргумента, складывает их и показывает сумму.</a:t>
            </a: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8" y="2423003"/>
            <a:ext cx="10143342" cy="341632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def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main 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():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print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('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Сумма чисел 12 и 45 равняется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')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show_sum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(12, 45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)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4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def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show sum(numl, num2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):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result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= num1 + 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num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	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print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(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result)</a:t>
            </a: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4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main ()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857" y="5941657"/>
            <a:ext cx="5082283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Courier New"/>
              </a:rPr>
              <a:t>Сумма чисел 12 и 45 равняется 57</a:t>
            </a:r>
          </a:p>
        </p:txBody>
      </p:sp>
    </p:spTree>
    <p:extLst>
      <p:ext uri="{BB962C8B-B14F-4D97-AF65-F5344CB8AC3E}">
        <p14:creationId xmlns:p14="http://schemas.microsoft.com/office/powerpoint/2010/main" val="193321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2076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Модули (</a:t>
            </a:r>
            <a:r>
              <a:rPr lang="en-US" sz="3600" b="1" dirty="0">
                <a:solidFill>
                  <a:srgbClr val="002060"/>
                </a:solidFill>
              </a:rPr>
              <a:t>Module)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19" y="1304872"/>
            <a:ext cx="108207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Программы на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содержат тысячи, десятки тысяч и сотни тысяч строк кода (есть проекты с миллионами).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В таких условиях одним файлом с кодом не обойдёшься — его нужно разбивать на части.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C целью получения доступа к коду, который находится в других файлах, 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реализован механизм модулей.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2568CC-1623-424E-B28F-52B2E9188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09" y="2561399"/>
            <a:ext cx="4371387" cy="417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2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2076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Модули (</a:t>
            </a:r>
            <a:r>
              <a:rPr lang="en-US" sz="3600" b="1" dirty="0">
                <a:solidFill>
                  <a:srgbClr val="002060"/>
                </a:solidFill>
              </a:rPr>
              <a:t>Module)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685619" y="1304872"/>
            <a:ext cx="108207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>
                <a:solidFill>
                  <a:srgbClr val="002060"/>
                </a:solidFill>
              </a:rPr>
              <a:t>Mодуль</a:t>
            </a:r>
            <a:r>
              <a:rPr lang="ru-RU" dirty="0">
                <a:solidFill>
                  <a:srgbClr val="002060"/>
                </a:solidFill>
              </a:rPr>
              <a:t>(</a:t>
            </a:r>
            <a:r>
              <a:rPr lang="ru-RU" dirty="0" err="1">
                <a:solidFill>
                  <a:srgbClr val="002060"/>
                </a:solidFill>
              </a:rPr>
              <a:t>module</a:t>
            </a:r>
            <a:r>
              <a:rPr lang="ru-RU" dirty="0">
                <a:solidFill>
                  <a:srgbClr val="002060"/>
                </a:solidFill>
              </a:rPr>
              <a:t>) 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- это просто файл, содержащий код на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Каждый модуль может содержать переменные, классы и функции.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Кроме того, в модуле может находиться исполняемый код.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Имя модуля соответствует имени файла.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Например: Имя файла: </a:t>
            </a:r>
            <a:r>
              <a:rPr lang="en-US" dirty="0">
                <a:solidFill>
                  <a:srgbClr val="002060"/>
                </a:solidFill>
              </a:rPr>
              <a:t>math.py</a:t>
            </a:r>
          </a:p>
          <a:p>
            <a:pPr algn="just"/>
            <a:r>
              <a:rPr lang="ru-RU" dirty="0" smtClean="0">
                <a:solidFill>
                  <a:srgbClr val="002060"/>
                </a:solidFill>
              </a:rPr>
              <a:t>	      Имя </a:t>
            </a:r>
            <a:r>
              <a:rPr lang="ru-RU" dirty="0">
                <a:solidFill>
                  <a:srgbClr val="002060"/>
                </a:solidFill>
              </a:rPr>
              <a:t>модуля: </a:t>
            </a:r>
            <a:r>
              <a:rPr lang="en-US" dirty="0">
                <a:solidFill>
                  <a:srgbClr val="002060"/>
                </a:solidFill>
              </a:rPr>
              <a:t>math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2568CC-1623-424E-B28F-52B2E9188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09" y="2561399"/>
            <a:ext cx="4371387" cy="417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Пакет (</a:t>
            </a:r>
            <a:r>
              <a:rPr lang="en-US" sz="3600" b="1" dirty="0">
                <a:solidFill>
                  <a:srgbClr val="002060"/>
                </a:solidFill>
              </a:rPr>
              <a:t>Package)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839732" y="2183052"/>
            <a:ext cx="57151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solidFill>
                  <a:srgbClr val="002060"/>
                </a:solidFill>
              </a:rPr>
              <a:t>Если </a:t>
            </a:r>
            <a:r>
              <a:rPr lang="ru-RU" dirty="0">
                <a:solidFill>
                  <a:srgbClr val="002060"/>
                </a:solidFill>
              </a:rPr>
              <a:t>начать делить код достаточно большого проекта на модули, то довольно быстро может возникнуть желание сгруппировать несколько близких по тематике модулей.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Или же мы захотим вынести часть модулей из проекта, чтобы их можно было использовать в других проектах.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На помощь приходят пакеты (</a:t>
            </a:r>
            <a:r>
              <a:rPr lang="ru-RU" dirty="0" err="1">
                <a:solidFill>
                  <a:srgbClr val="002060"/>
                </a:solidFill>
              </a:rPr>
              <a:t>packages</a:t>
            </a:r>
            <a:r>
              <a:rPr lang="ru-RU" dirty="0">
                <a:solidFill>
                  <a:srgbClr val="002060"/>
                </a:solidFill>
              </a:rPr>
              <a:t>), которые служат для объединения модулей в группы.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5" name="Picture 2" descr="Python Пакет">
            <a:extLst>
              <a:ext uri="{FF2B5EF4-FFF2-40B4-BE49-F238E27FC236}">
                <a16:creationId xmlns:a16="http://schemas.microsoft.com/office/drawing/2014/main" id="{0D82B83E-6C61-4E8B-BD00-9E06D25D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254" y="1304872"/>
            <a:ext cx="4595178" cy="46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29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Пакет (</a:t>
            </a:r>
            <a:r>
              <a:rPr lang="en-US" sz="3600" b="1" dirty="0">
                <a:solidFill>
                  <a:srgbClr val="002060"/>
                </a:solidFill>
              </a:rPr>
              <a:t>Package)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839732" y="2183052"/>
            <a:ext cx="57151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solidFill>
                  <a:srgbClr val="002060"/>
                </a:solidFill>
              </a:rPr>
              <a:t>Пакет </a:t>
            </a:r>
            <a:r>
              <a:rPr lang="ru-RU" dirty="0">
                <a:solidFill>
                  <a:srgbClr val="002060"/>
                </a:solidFill>
              </a:rPr>
              <a:t>- это набор взаимосвязанных модулей (при этом стоит уточнить, что сам пакет тоже является модулем), предназначенных для решения задач определенного класса некоторой предметной области.</a:t>
            </a:r>
          </a:p>
          <a:p>
            <a:pPr algn="just"/>
            <a:r>
              <a:rPr lang="ru-RU" dirty="0" smtClean="0">
                <a:solidFill>
                  <a:srgbClr val="002060"/>
                </a:solidFill>
              </a:rPr>
              <a:t>Пакет </a:t>
            </a:r>
            <a:r>
              <a:rPr lang="ru-RU" dirty="0">
                <a:solidFill>
                  <a:srgbClr val="002060"/>
                </a:solidFill>
              </a:rPr>
              <a:t>-  это способ структуризации модулей.</a:t>
            </a:r>
          </a:p>
          <a:p>
            <a:pPr algn="just"/>
            <a:r>
              <a:rPr lang="ru-RU" dirty="0" smtClean="0">
                <a:solidFill>
                  <a:srgbClr val="002060"/>
                </a:solidFill>
              </a:rPr>
              <a:t>Пакет </a:t>
            </a:r>
            <a:r>
              <a:rPr lang="ru-RU" dirty="0">
                <a:solidFill>
                  <a:srgbClr val="002060"/>
                </a:solidFill>
              </a:rPr>
              <a:t>представляет собой папку, в которой содержатся модули и другие пакеты и обязательный файл __init__.py, отвечающий за инициализацию пакета.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5" name="Picture 2" descr="Python Пакет">
            <a:extLst>
              <a:ext uri="{FF2B5EF4-FFF2-40B4-BE49-F238E27FC236}">
                <a16:creationId xmlns:a16="http://schemas.microsoft.com/office/drawing/2014/main" id="{0D82B83E-6C61-4E8B-BD00-9E06D25D9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528" y="1443370"/>
            <a:ext cx="4595178" cy="46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28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Пакет (</a:t>
            </a:r>
            <a:r>
              <a:rPr lang="en-US" sz="3600" b="1" dirty="0">
                <a:solidFill>
                  <a:srgbClr val="002060"/>
                </a:solidFill>
              </a:rPr>
              <a:t>Package)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4461422"/>
            <a:ext cx="10358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algn="just"/>
            <a:r>
              <a:rPr lang="ru-RU" dirty="0" smtClean="0">
                <a:solidFill>
                  <a:srgbClr val="002060"/>
                </a:solidFill>
              </a:rPr>
              <a:t>Именем </a:t>
            </a:r>
            <a:r>
              <a:rPr lang="ru-RU" dirty="0">
                <a:solidFill>
                  <a:srgbClr val="002060"/>
                </a:solidFill>
              </a:rPr>
              <a:t>пакета является название каталога.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С версии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3.3 любая папка (даже без __init__.py) считается пакетом.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Пакет может быть импортирован (так же как и модуль).</a:t>
            </a:r>
          </a:p>
          <a:p>
            <a:pPr algn="just"/>
            <a:r>
              <a:rPr lang="ru-RU" dirty="0">
                <a:solidFill>
                  <a:srgbClr val="002060"/>
                </a:solidFill>
              </a:rPr>
              <a:t>Пакет может быть многократно использован (так же как и модуль).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6" name="Picture 2" descr="Python Пакет">
            <a:extLst>
              <a:ext uri="{FF2B5EF4-FFF2-40B4-BE49-F238E27FC236}">
                <a16:creationId xmlns:a16="http://schemas.microsoft.com/office/drawing/2014/main" id="{618E692F-CED8-4FE6-80C2-FC9ABC80E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37" y="1389312"/>
            <a:ext cx="3056476" cy="307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F2E5D6-9975-491E-B9CE-8510607D1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026" y="1510088"/>
            <a:ext cx="2888920" cy="2830558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E50F03DD-F1B6-47FF-9D40-C5144DCA2443}"/>
              </a:ext>
            </a:extLst>
          </p:cNvPr>
          <p:cNvCxnSpPr/>
          <p:nvPr/>
        </p:nvCxnSpPr>
        <p:spPr>
          <a:xfrm>
            <a:off x="5147109" y="2879460"/>
            <a:ext cx="1269850" cy="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27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Классификация модулей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12811"/>
            <a:ext cx="1035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Стандартная библиотека (</a:t>
            </a:r>
            <a:r>
              <a:rPr lang="en-US" dirty="0">
                <a:solidFill>
                  <a:srgbClr val="002060"/>
                </a:solidFill>
              </a:rPr>
              <a:t>Standard Library)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Сторонние модули (3</a:t>
            </a:r>
            <a:r>
              <a:rPr lang="en-US" dirty="0" err="1">
                <a:solidFill>
                  <a:srgbClr val="002060"/>
                </a:solidFill>
              </a:rPr>
              <a:t>rd</a:t>
            </a:r>
            <a:r>
              <a:rPr lang="en-US" dirty="0">
                <a:solidFill>
                  <a:srgbClr val="002060"/>
                </a:solidFill>
              </a:rPr>
              <a:t> Party Modules)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Пользовательские модули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9" name="Picture 2" descr="Python. Классификация модулей.">
            <a:extLst>
              <a:ext uri="{FF2B5EF4-FFF2-40B4-BE49-F238E27FC236}">
                <a16:creationId xmlns:a16="http://schemas.microsoft.com/office/drawing/2014/main" id="{78007BC7-EF1A-43D4-B2FB-33DB871FC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912" y="2389788"/>
            <a:ext cx="7194175" cy="420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2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Стандартная библиотека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12811"/>
            <a:ext cx="103580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os</a:t>
            </a:r>
            <a:r>
              <a:rPr lang="ru-RU" dirty="0">
                <a:solidFill>
                  <a:srgbClr val="002060"/>
                </a:solidFill>
              </a:rPr>
              <a:t> - множество функций для работы с операционной системой (например, получение версии и другой информации о текущей ОС)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random</a:t>
            </a:r>
            <a:r>
              <a:rPr lang="ru-RU" dirty="0">
                <a:solidFill>
                  <a:srgbClr val="002060"/>
                </a:solidFill>
              </a:rPr>
              <a:t> - функции для генерации случайных чисел, букв, случайного выбора элементов последовательности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re</a:t>
            </a:r>
            <a:r>
              <a:rPr lang="ru-RU" dirty="0">
                <a:solidFill>
                  <a:srgbClr val="002060"/>
                </a:solidFill>
              </a:rPr>
              <a:t> -  модуль для работы с регулярными выражениями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сollections</a:t>
            </a:r>
            <a:r>
              <a:rPr lang="ru-RU" dirty="0">
                <a:solidFill>
                  <a:srgbClr val="002060"/>
                </a:solidFill>
              </a:rPr>
              <a:t> - предоставляет специализированные типы данных - счетчики, очереди, упорядоченные словари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0870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Сторонние </a:t>
            </a:r>
            <a:r>
              <a:rPr lang="ru-RU" sz="3600" b="1" dirty="0" smtClean="0">
                <a:solidFill>
                  <a:srgbClr val="002060"/>
                </a:solidFill>
              </a:rPr>
              <a:t>модули	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12811"/>
            <a:ext cx="10358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Это модули и пакеты, которые не входят в дистрибутив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и могут быть установлены из каталога пакетов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с помощью пакетного менеджера (например, </a:t>
            </a:r>
            <a:r>
              <a:rPr lang="ru-RU" dirty="0" err="1">
                <a:solidFill>
                  <a:srgbClr val="002060"/>
                </a:solidFill>
              </a:rPr>
              <a:t>pip</a:t>
            </a:r>
            <a:r>
              <a:rPr lang="ru-RU" dirty="0">
                <a:solidFill>
                  <a:srgbClr val="002060"/>
                </a:solidFill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 smtClean="0">
                <a:solidFill>
                  <a:srgbClr val="002060"/>
                </a:solidFill>
              </a:rPr>
              <a:t>PyPI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(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Package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Index</a:t>
            </a:r>
            <a:r>
              <a:rPr lang="ru-RU" dirty="0">
                <a:solidFill>
                  <a:srgbClr val="002060"/>
                </a:solidFill>
              </a:rPr>
              <a:t>) - главный каталог библиотек на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. Содержит более 200 000 пакетов: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 err="1" smtClean="0">
                <a:solidFill>
                  <a:srgbClr val="002060"/>
                </a:solidFill>
              </a:rPr>
              <a:t>requests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(HTTP-клиент для Питона)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numpy</a:t>
            </a:r>
            <a:r>
              <a:rPr lang="ru-RU" dirty="0">
                <a:solidFill>
                  <a:srgbClr val="002060"/>
                </a:solidFill>
              </a:rPr>
              <a:t> (вычисления с многомерными массивами)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rgbClr val="002060"/>
                </a:solidFill>
              </a:rPr>
              <a:t>flask</a:t>
            </a:r>
            <a:r>
              <a:rPr lang="ru-RU" dirty="0">
                <a:solidFill>
                  <a:srgbClr val="002060"/>
                </a:solidFill>
              </a:rPr>
              <a:t> (пакет для создания веб-приложений)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…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01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428237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Импорт модуля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A604F9-9FA7-4C44-89AC-D7FEB61D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83" y="1089521"/>
            <a:ext cx="7325034" cy="50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12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Импорт модуля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71152"/>
            <a:ext cx="103580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При </a:t>
            </a:r>
            <a:r>
              <a:rPr lang="ru-RU" dirty="0">
                <a:solidFill>
                  <a:srgbClr val="002060"/>
                </a:solidFill>
              </a:rPr>
              <a:t>импорте модуля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выполняет весь код в нём.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При импорте пакета </a:t>
            </a:r>
            <a:r>
              <a:rPr lang="ru-RU" dirty="0" err="1">
                <a:solidFill>
                  <a:srgbClr val="002060"/>
                </a:solidFill>
              </a:rPr>
              <a:t>Python</a:t>
            </a:r>
            <a:r>
              <a:rPr lang="ru-RU" dirty="0">
                <a:solidFill>
                  <a:srgbClr val="002060"/>
                </a:solidFill>
              </a:rPr>
              <a:t> выполняет код в файле пакета __init__.py, если такой имеется.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Все объекты, определённые в модуле или __init__.py, становятся доступны импортирующему коду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 smtClean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>
              <a:solidFill>
                <a:srgbClr val="00206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После </a:t>
            </a:r>
            <a:r>
              <a:rPr lang="ru-RU" dirty="0">
                <a:solidFill>
                  <a:srgbClr val="002060"/>
                </a:solidFill>
              </a:rPr>
              <a:t>ключевого слова import указывается название модуля. Одной инструкцией можно подключить несколько модулей, хотя этого не рекомендуется делать.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После </a:t>
            </a:r>
            <a:r>
              <a:rPr lang="ru-RU" dirty="0">
                <a:solidFill>
                  <a:srgbClr val="002060"/>
                </a:solidFill>
              </a:rPr>
              <a:t>импортирования модуля его название становится переменной, через которую можно получить доступ к атрибутам модуля.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Если </a:t>
            </a:r>
            <a:r>
              <a:rPr lang="ru-RU" dirty="0">
                <a:solidFill>
                  <a:srgbClr val="002060"/>
                </a:solidFill>
              </a:rPr>
              <a:t>название модуля слишком длинное, то для него можно создать псевдоним с помощью ключевого слова </a:t>
            </a:r>
            <a:r>
              <a:rPr lang="ru-RU" dirty="0" err="1">
                <a:solidFill>
                  <a:srgbClr val="002060"/>
                </a:solidFill>
              </a:rPr>
              <a:t>as</a:t>
            </a:r>
            <a:r>
              <a:rPr lang="ru-RU" dirty="0">
                <a:solidFill>
                  <a:srgbClr val="002060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При </a:t>
            </a:r>
            <a:r>
              <a:rPr lang="ru-RU" dirty="0">
                <a:solidFill>
                  <a:srgbClr val="002060"/>
                </a:solidFill>
              </a:rPr>
              <a:t>использовании псевдонима доступ ко всем атрибутам модуля осуществляется только с помощью </a:t>
            </a:r>
            <a:r>
              <a:rPr lang="ru-RU" dirty="0" smtClean="0">
                <a:solidFill>
                  <a:srgbClr val="002060"/>
                </a:solidFill>
              </a:rPr>
              <a:t>переменной-псевдонима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9" y="2895615"/>
            <a:ext cx="10143342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1" dirty="0">
                <a:solidFill>
                  <a:srgbClr val="002060"/>
                </a:solidFill>
                <a:latin typeface="Courier New"/>
              </a:rPr>
              <a:t>import &lt;модуль/пакет_1&gt; [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as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 &lt;псевдоним_1&gt; ] [, &lt;модуль/пакет_2&gt; </a:t>
            </a:r>
            <a:r>
              <a:rPr lang="ru-RU" sz="2400" b="1" dirty="0" err="1">
                <a:solidFill>
                  <a:srgbClr val="002060"/>
                </a:solidFill>
                <a:latin typeface="Courier New"/>
              </a:rPr>
              <a:t>as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 &lt;псевдоним_2&gt;] …</a:t>
            </a:r>
          </a:p>
        </p:txBody>
      </p:sp>
    </p:spTree>
    <p:extLst>
      <p:ext uri="{BB962C8B-B14F-4D97-AF65-F5344CB8AC3E}">
        <p14:creationId xmlns:p14="http://schemas.microsoft.com/office/powerpoint/2010/main" val="7791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72076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Импорт модуля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178" y="1488055"/>
            <a:ext cx="5095643" cy="378565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time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import random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import os as windows_os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import math as m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print(time.time())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print(random.random())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print(windows_os.getcwd())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print(m.e)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861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12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Импорт через </a:t>
            </a:r>
            <a:r>
              <a:rPr lang="en-US" sz="3600" b="1" dirty="0">
                <a:solidFill>
                  <a:srgbClr val="002060"/>
                </a:solidFill>
              </a:rPr>
              <a:t>from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71152"/>
            <a:ext cx="1035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solidFill>
                  <a:srgbClr val="002060"/>
                </a:solidFill>
              </a:rPr>
              <a:t>Инструкция </a:t>
            </a:r>
            <a:r>
              <a:rPr lang="ru-RU" dirty="0" err="1">
                <a:solidFill>
                  <a:srgbClr val="002060"/>
                </a:solidFill>
              </a:rPr>
              <a:t>from</a:t>
            </a:r>
            <a:r>
              <a:rPr lang="ru-RU" dirty="0">
                <a:solidFill>
                  <a:srgbClr val="002060"/>
                </a:solidFill>
              </a:rPr>
              <a:t>...import чаще всего используется для частичного импорта.</a:t>
            </a:r>
          </a:p>
          <a:p>
            <a:pPr algn="just"/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9" y="1816828"/>
            <a:ext cx="10143342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from &lt;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модуль/пакет&gt;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&lt;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атрибут/модуль_1&gt; [ 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as &lt;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псевдоним_1&gt; ], [&lt;</a:t>
            </a:r>
            <a:r>
              <a:rPr lang="ru-RU" sz="2400" b="1" dirty="0" smtClean="0">
                <a:solidFill>
                  <a:srgbClr val="002060"/>
                </a:solidFill>
                <a:latin typeface="Courier New"/>
              </a:rPr>
              <a:t>атрибут/модуль_2</a:t>
            </a:r>
            <a:r>
              <a:rPr lang="en-US" sz="2400" b="1" dirty="0" smtClean="0">
                <a:solidFill>
                  <a:srgbClr val="002060"/>
                </a:solidFill>
                <a:latin typeface="Courier New"/>
              </a:rPr>
              <a:t>&gt;]</a:t>
            </a:r>
            <a:endParaRPr lang="ru-RU" sz="2400" b="1" dirty="0">
              <a:solidFill>
                <a:srgbClr val="002060"/>
              </a:solidFill>
              <a:latin typeface="Courier New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9601C3-3BC7-416E-8234-B2A5945F2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604" y="2845388"/>
            <a:ext cx="7017311" cy="369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5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4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Импорт через </a:t>
            </a:r>
            <a:r>
              <a:rPr lang="en-US" sz="3600" b="1" dirty="0">
                <a:solidFill>
                  <a:srgbClr val="002060"/>
                </a:solidFill>
              </a:rPr>
              <a:t>from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314" y="1508604"/>
            <a:ext cx="9195371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from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math import e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print(e</a:t>
            </a: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)</a:t>
            </a:r>
            <a:endParaRPr lang="pt-BR" sz="24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741" y="2507329"/>
            <a:ext cx="2842515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Courier New"/>
              </a:rPr>
              <a:t>2.718281828459045</a:t>
            </a:r>
          </a:p>
        </p:txBody>
      </p:sp>
      <p:sp>
        <p:nvSpPr>
          <p:cNvPr id="6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314" y="3075167"/>
            <a:ext cx="9195371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from math import cos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print(math.cos(0))</a:t>
            </a:r>
          </a:p>
        </p:txBody>
      </p:sp>
      <p:sp>
        <p:nvSpPr>
          <p:cNvPr id="7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314" y="4641730"/>
            <a:ext cx="9195371" cy="83099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from math import pi as number_pi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 smtClean="0">
                <a:solidFill>
                  <a:srgbClr val="002060"/>
                </a:solidFill>
                <a:latin typeface="Courier New"/>
              </a:rPr>
              <a:t>print(number_pi)</a:t>
            </a:r>
          </a:p>
        </p:txBody>
      </p:sp>
      <p:sp>
        <p:nvSpPr>
          <p:cNvPr id="8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527" y="4073892"/>
            <a:ext cx="684941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FF0000"/>
                </a:solidFill>
                <a:latin typeface="Courier New"/>
              </a:rPr>
              <a:t>1.0</a:t>
            </a:r>
            <a:endParaRPr lang="ru-RU" sz="2000" b="1" dirty="0">
              <a:solidFill>
                <a:srgbClr val="FF0000"/>
              </a:solidFill>
              <a:latin typeface="Courier New"/>
            </a:endParaRPr>
          </a:p>
        </p:txBody>
      </p:sp>
      <p:sp>
        <p:nvSpPr>
          <p:cNvPr id="9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4741" y="5640455"/>
            <a:ext cx="2842515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Courier New"/>
              </a:rPr>
              <a:t>3.141592653589793</a:t>
            </a:r>
          </a:p>
        </p:txBody>
      </p:sp>
    </p:spTree>
    <p:extLst>
      <p:ext uri="{BB962C8B-B14F-4D97-AF65-F5344CB8AC3E}">
        <p14:creationId xmlns:p14="http://schemas.microsoft.com/office/powerpoint/2010/main" val="170683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4544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Исполняемая часть модуля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66" y="1693539"/>
            <a:ext cx="5714144" cy="415498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# Calc.py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Функции модуля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def sum_up(a, b):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    return a + b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def sub(a, b):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    return a - b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Исполняемый код</a:t>
            </a:r>
            <a:br>
              <a:rPr lang="ru-RU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Сумма: ',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sum_up(2, 3))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Разность: ',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sub(5, 1))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A306818-6A20-4759-9515-0E8A2E0E3761}"/>
              </a:ext>
            </a:extLst>
          </p:cNvPr>
          <p:cNvCxnSpPr/>
          <p:nvPr/>
        </p:nvCxnSpPr>
        <p:spPr>
          <a:xfrm>
            <a:off x="6096000" y="3818828"/>
            <a:ext cx="827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315" y="2664666"/>
            <a:ext cx="4845701" cy="230832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latin typeface="Courier New"/>
              </a:rPr>
              <a:t>import Calc as calculator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Сумма: ',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calculator.sum_up(2, 3))</a:t>
            </a:r>
            <a:br>
              <a:rPr lang="pt-BR" sz="2400" b="1" dirty="0">
                <a:solidFill>
                  <a:srgbClr val="002060"/>
                </a:solidFill>
                <a:latin typeface="Courier New"/>
              </a:rPr>
            </a:br>
            <a:r>
              <a:rPr lang="pt-BR" sz="2400" b="1" dirty="0">
                <a:solidFill>
                  <a:srgbClr val="002060"/>
                </a:solidFill>
                <a:latin typeface="Courier New"/>
              </a:rPr>
              <a:t>print('</a:t>
            </a:r>
            <a:r>
              <a:rPr lang="ru-RU" sz="2400" b="1" dirty="0">
                <a:solidFill>
                  <a:srgbClr val="002060"/>
                </a:solidFill>
                <a:latin typeface="Courier New"/>
              </a:rPr>
              <a:t>Разность: ', </a:t>
            </a:r>
            <a:r>
              <a:rPr lang="pt-BR" sz="2400" b="1" dirty="0">
                <a:solidFill>
                  <a:srgbClr val="002060"/>
                </a:solidFill>
                <a:latin typeface="Courier New"/>
              </a:rPr>
              <a:t>calculator.sub(5, 1))</a:t>
            </a:r>
          </a:p>
        </p:txBody>
      </p:sp>
    </p:spTree>
    <p:extLst>
      <p:ext uri="{BB962C8B-B14F-4D97-AF65-F5344CB8AC3E}">
        <p14:creationId xmlns:p14="http://schemas.microsoft.com/office/powerpoint/2010/main" val="242511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6180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solidFill>
                  <a:srgbClr val="002060"/>
                </a:solidFill>
              </a:rPr>
              <a:t>Как избежать?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D9EEBA-A474-4264-BFC1-B3F957C70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536" y="1321954"/>
            <a:ext cx="7304927" cy="502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3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989909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solidFill>
                  <a:srgbClr val="002060"/>
                </a:solidFill>
              </a:rPr>
              <a:t>Pyplot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2719808"/>
            <a:ext cx="10358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Большинство утилит </a:t>
            </a:r>
            <a:r>
              <a:rPr lang="ru-RU" dirty="0" err="1">
                <a:solidFill>
                  <a:srgbClr val="002060"/>
                </a:solidFill>
              </a:rPr>
              <a:t>Matplotlib</a:t>
            </a:r>
            <a:r>
              <a:rPr lang="ru-RU" dirty="0">
                <a:solidFill>
                  <a:srgbClr val="002060"/>
                </a:solidFill>
              </a:rPr>
              <a:t> находится в подмодуле </a:t>
            </a:r>
            <a:r>
              <a:rPr lang="ru-RU" dirty="0" err="1">
                <a:solidFill>
                  <a:srgbClr val="002060"/>
                </a:solidFill>
              </a:rPr>
              <a:t>pyplot</a:t>
            </a:r>
            <a:r>
              <a:rPr lang="ru-RU" dirty="0">
                <a:solidFill>
                  <a:srgbClr val="002060"/>
                </a:solidFill>
              </a:rPr>
              <a:t>, который необходимо импортировать в свою программу</a:t>
            </a: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329" y="3466082"/>
            <a:ext cx="10143342" cy="46166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matplotlib.pyplot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as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</a:t>
            </a:r>
            <a:endParaRPr lang="en-US" sz="24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5378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12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/>
                </a:solidFill>
              </a:rPr>
              <a:t>Plotting (</a:t>
            </a:r>
            <a:r>
              <a:rPr lang="ru-RU" sz="3600" b="1" dirty="0">
                <a:solidFill>
                  <a:srgbClr val="002060"/>
                </a:solidFill>
              </a:rPr>
              <a:t>рисование)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596D40-17B3-40CF-A93C-1851DF7047D7}"/>
              </a:ext>
            </a:extLst>
          </p:cNvPr>
          <p:cNvSpPr txBox="1"/>
          <p:nvPr/>
        </p:nvSpPr>
        <p:spPr>
          <a:xfrm>
            <a:off x="916988" y="1271152"/>
            <a:ext cx="10358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Функция </a:t>
            </a:r>
            <a:r>
              <a:rPr lang="ru-RU" dirty="0" err="1">
                <a:solidFill>
                  <a:srgbClr val="002060"/>
                </a:solidFill>
              </a:rPr>
              <a:t>plot</a:t>
            </a:r>
            <a:r>
              <a:rPr lang="ru-RU" dirty="0">
                <a:solidFill>
                  <a:srgbClr val="002060"/>
                </a:solidFill>
              </a:rPr>
              <a:t>() используется для рисования точек (маркеров)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По умолчанию функция </a:t>
            </a:r>
            <a:r>
              <a:rPr lang="ru-RU" dirty="0" err="1">
                <a:solidFill>
                  <a:srgbClr val="002060"/>
                </a:solidFill>
              </a:rPr>
              <a:t>plot</a:t>
            </a:r>
            <a:r>
              <a:rPr lang="ru-RU" dirty="0">
                <a:solidFill>
                  <a:srgbClr val="002060"/>
                </a:solidFill>
              </a:rPr>
              <a:t>() рисует линию от точки к точке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Функция принимает параметры для указания точек на диаграмме.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Параметр 1 - это массив, содержащий точки на оси X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Параметр 2 - это массив, содержащий точки на оси 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2060"/>
                </a:solidFill>
              </a:rPr>
              <a:t>Если нам нужно построить линию от (1, 3) до (8, 10), мы должны передать два массива [1, 8] и [3, 10] в функцию построения графика.</a:t>
            </a: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6115" y="3484108"/>
            <a:ext cx="5999770" cy="304698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matplotlib.pyplot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as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numpy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as np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xpoints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=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np.array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([1, 8])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ypoints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=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np.array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([3, 10])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plt.plot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xpoints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,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ypoints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plt.show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3629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06">
            <a:extLst>
              <a:ext uri="{FF2B5EF4-FFF2-40B4-BE49-F238E27FC236}">
                <a16:creationId xmlns:a16="http://schemas.microsoft.com/office/drawing/2014/main" id="{C49564B9-C702-4B0A-9757-0B1984301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1253"/>
            <a:ext cx="12192000" cy="5482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002060"/>
                </a:solidFill>
              </a:rPr>
              <a:t>Plotting (</a:t>
            </a:r>
            <a:r>
              <a:rPr lang="ru-RU" sz="3600" b="1" dirty="0">
                <a:solidFill>
                  <a:srgbClr val="002060"/>
                </a:solidFill>
              </a:rPr>
              <a:t>рисование)</a:t>
            </a:r>
            <a:endParaRPr lang="ru-RU" sz="3600" b="1" i="1" dirty="0">
              <a:solidFill>
                <a:srgbClr val="002060"/>
              </a:solidFill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9" y="2127919"/>
            <a:ext cx="6212271" cy="3046988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matplotlib.pyplot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as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numpy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as np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xpoints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=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np.array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([1, 2, 6, 8])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ypoints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 =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np.array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([3, 8, 1, 10])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>
                <a:solidFill>
                  <a:srgbClr val="002060"/>
                </a:solidFill>
                <a:latin typeface="Courier New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plt.plot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xpoints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, </a:t>
            </a: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ypoints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)</a:t>
            </a:r>
            <a:br>
              <a:rPr lang="en-US" sz="2400" b="1" dirty="0">
                <a:solidFill>
                  <a:srgbClr val="002060"/>
                </a:solidFill>
                <a:latin typeface="Courier New"/>
              </a:rPr>
            </a:br>
            <a:r>
              <a:rPr lang="en-US" sz="2400" b="1" dirty="0" err="1">
                <a:solidFill>
                  <a:srgbClr val="002060"/>
                </a:solidFill>
                <a:latin typeface="Courier New"/>
              </a:rPr>
              <a:t>plt.show</a:t>
            </a:r>
            <a:r>
              <a:rPr lang="en-US" sz="2400" b="1" dirty="0">
                <a:solidFill>
                  <a:srgbClr val="002060"/>
                </a:solidFill>
                <a:latin typeface="Courier New"/>
              </a:rPr>
              <a:t>()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CCFF74-E3C8-413E-86D3-4253BE001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989" y="1416802"/>
            <a:ext cx="4769770" cy="447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7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6">
            <a:extLst>
              <a:ext uri="{FF2B5EF4-FFF2-40B4-BE49-F238E27FC236}">
                <a16:creationId xmlns:a16="http://schemas.microsoft.com/office/drawing/2014/main" id="{96C89650-059F-44B7-8CF7-08307EB6089E}"/>
              </a:ext>
            </a:extLst>
          </p:cNvPr>
          <p:cNvSpPr txBox="1">
            <a:spLocks noChangeArrowheads="1"/>
          </p:cNvSpPr>
          <p:nvPr/>
        </p:nvSpPr>
        <p:spPr>
          <a:xfrm>
            <a:off x="390537" y="222051"/>
            <a:ext cx="11926186" cy="8007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solidFill>
                  <a:srgbClr val="002060"/>
                </a:solidFill>
              </a:rPr>
              <a:t>Пример 1.</a:t>
            </a:r>
            <a:endParaRPr lang="ru-RU" sz="2400" i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42547-91BD-4228-BD77-5FAD09077A6F}"/>
              </a:ext>
            </a:extLst>
          </p:cNvPr>
          <p:cNvSpPr txBox="1"/>
          <p:nvPr/>
        </p:nvSpPr>
        <p:spPr>
          <a:xfrm>
            <a:off x="3190657" y="233647"/>
            <a:ext cx="836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Напишите функцию </a:t>
            </a:r>
            <a:r>
              <a:rPr lang="ru-RU" dirty="0" err="1">
                <a:solidFill>
                  <a:srgbClr val="002060"/>
                </a:solidFill>
              </a:rPr>
              <a:t>factorial</a:t>
            </a:r>
            <a:r>
              <a:rPr lang="ru-RU" dirty="0">
                <a:solidFill>
                  <a:srgbClr val="002060"/>
                </a:solidFill>
              </a:rPr>
              <a:t>(n), которая принимает целое число n и возвращает его факториал.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594" y="1463733"/>
            <a:ext cx="6072026" cy="440120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factorial(n):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if n &lt; 0: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raise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ValueError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Факториал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не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определен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для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отрицательных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чисел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.")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elif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n == 0 or n == 1: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return 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result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for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in range(2, n + 1):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    result *=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</a:t>
            </a: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return result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Пример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использования</a:t>
            </a: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print(factorial(5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))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3901" y="3464280"/>
            <a:ext cx="732841" cy="40011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Courier New"/>
              </a:rPr>
              <a:t>120</a:t>
            </a:r>
            <a:endParaRPr lang="en-US" sz="2000" b="1" dirty="0">
              <a:solidFill>
                <a:srgbClr val="FF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0063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6">
            <a:extLst>
              <a:ext uri="{FF2B5EF4-FFF2-40B4-BE49-F238E27FC236}">
                <a16:creationId xmlns:a16="http://schemas.microsoft.com/office/drawing/2014/main" id="{96C89650-059F-44B7-8CF7-08307EB6089E}"/>
              </a:ext>
            </a:extLst>
          </p:cNvPr>
          <p:cNvSpPr txBox="1">
            <a:spLocks noChangeArrowheads="1"/>
          </p:cNvSpPr>
          <p:nvPr/>
        </p:nvSpPr>
        <p:spPr>
          <a:xfrm>
            <a:off x="390537" y="222051"/>
            <a:ext cx="11926186" cy="8007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solidFill>
                  <a:srgbClr val="002060"/>
                </a:solidFill>
              </a:rPr>
              <a:t>Пример </a:t>
            </a:r>
            <a:r>
              <a:rPr lang="en-US" sz="3600" dirty="0" smtClean="0">
                <a:solidFill>
                  <a:srgbClr val="002060"/>
                </a:solidFill>
              </a:rPr>
              <a:t>2</a:t>
            </a:r>
            <a:r>
              <a:rPr lang="ru-RU" sz="3600" dirty="0" smtClean="0">
                <a:solidFill>
                  <a:srgbClr val="002060"/>
                </a:solidFill>
              </a:rPr>
              <a:t>.</a:t>
            </a:r>
            <a:endParaRPr lang="ru-RU" sz="2400" i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42547-91BD-4228-BD77-5FAD09077A6F}"/>
              </a:ext>
            </a:extLst>
          </p:cNvPr>
          <p:cNvSpPr txBox="1"/>
          <p:nvPr/>
        </p:nvSpPr>
        <p:spPr>
          <a:xfrm>
            <a:off x="3190657" y="233647"/>
            <a:ext cx="836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Создайте файл math_utils.py, который содержит функции для вычисления квадратного корня и возведения в степень.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161" y="1105928"/>
            <a:ext cx="6154219" cy="56323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import math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square_root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(x):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if x &lt; 0: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raise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ValueError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Неопределенно для отрицательных чисел.")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   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return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math.sqrt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(x)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power(base, exponent):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return base ** 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exponent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# В другом файле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from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math_utils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import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square_root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power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square_root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(16)) 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print(power(2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3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))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  <p:sp>
        <p:nvSpPr>
          <p:cNvPr id="5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355" y="3568140"/>
            <a:ext cx="842481" cy="70788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 smtClean="0">
                <a:solidFill>
                  <a:srgbClr val="FF0000"/>
                </a:solidFill>
                <a:latin typeface="Courier New"/>
              </a:rPr>
              <a:t>4.0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FF0000"/>
                </a:solidFill>
                <a:latin typeface="Courier New"/>
              </a:rPr>
              <a:t>8</a:t>
            </a:r>
            <a:endParaRPr lang="ru-RU" sz="2000" b="1" dirty="0" smtClean="0">
              <a:solidFill>
                <a:srgbClr val="FF000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9958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6">
            <a:extLst>
              <a:ext uri="{FF2B5EF4-FFF2-40B4-BE49-F238E27FC236}">
                <a16:creationId xmlns:a16="http://schemas.microsoft.com/office/drawing/2014/main" id="{96C89650-059F-44B7-8CF7-08307EB6089E}"/>
              </a:ext>
            </a:extLst>
          </p:cNvPr>
          <p:cNvSpPr txBox="1">
            <a:spLocks noChangeArrowheads="1"/>
          </p:cNvSpPr>
          <p:nvPr/>
        </p:nvSpPr>
        <p:spPr>
          <a:xfrm>
            <a:off x="390537" y="222051"/>
            <a:ext cx="11926186" cy="8007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solidFill>
                  <a:srgbClr val="002060"/>
                </a:solidFill>
              </a:rPr>
              <a:t>Пример </a:t>
            </a:r>
            <a:r>
              <a:rPr lang="en-US" sz="3600" dirty="0" smtClean="0">
                <a:solidFill>
                  <a:srgbClr val="002060"/>
                </a:solidFill>
              </a:rPr>
              <a:t>3</a:t>
            </a:r>
            <a:r>
              <a:rPr lang="ru-RU" sz="3600" dirty="0" smtClean="0">
                <a:solidFill>
                  <a:srgbClr val="002060"/>
                </a:solidFill>
              </a:rPr>
              <a:t>.</a:t>
            </a:r>
            <a:endParaRPr lang="ru-RU" sz="2400" i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42547-91BD-4228-BD77-5FAD09077A6F}"/>
              </a:ext>
            </a:extLst>
          </p:cNvPr>
          <p:cNvSpPr txBox="1"/>
          <p:nvPr/>
        </p:nvSpPr>
        <p:spPr>
          <a:xfrm>
            <a:off x="3190657" y="233647"/>
            <a:ext cx="8365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Создайте пакет </a:t>
            </a:r>
            <a:r>
              <a:rPr lang="ru-RU" dirty="0" err="1">
                <a:solidFill>
                  <a:srgbClr val="002060"/>
                </a:solidFill>
              </a:rPr>
              <a:t>my_package</a:t>
            </a:r>
            <a:r>
              <a:rPr lang="ru-RU" dirty="0">
                <a:solidFill>
                  <a:srgbClr val="002060"/>
                </a:solidFill>
              </a:rPr>
              <a:t>, который содержит два модуля: math_utils.py и string_utils.py. В string_utils.py создайте функцию для проверки, является ли строка палиндромом.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628" y="1156977"/>
            <a:ext cx="7870003" cy="5632311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my_package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/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__init__.py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math_utils.py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string_utils.py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is_palindrome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(s):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return s == s[::-1]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Пример использования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is_palindrome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("level"))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# print(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is_palindrome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("hello")) 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</a:t>
            </a:r>
            <a:r>
              <a:rPr lang="en-US" sz="2000" b="1" dirty="0" smtClean="0">
                <a:solidFill>
                  <a:srgbClr val="002060"/>
                </a:solidFill>
                <a:latin typeface="Courier New"/>
              </a:rPr>
              <a:t>False</a:t>
            </a:r>
            <a:endParaRPr lang="ru-RU" sz="2000" b="1" dirty="0" smtClean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# В другом файле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from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my_package.math_utils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import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square_root</a:t>
            </a: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from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my_package.string_utils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import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is_palindrome</a:t>
            </a: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square_root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(25))           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5.0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is_palindrome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("racecar"))  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True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4258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6">
            <a:extLst>
              <a:ext uri="{FF2B5EF4-FFF2-40B4-BE49-F238E27FC236}">
                <a16:creationId xmlns:a16="http://schemas.microsoft.com/office/drawing/2014/main" id="{96C89650-059F-44B7-8CF7-08307EB6089E}"/>
              </a:ext>
            </a:extLst>
          </p:cNvPr>
          <p:cNvSpPr txBox="1">
            <a:spLocks noChangeArrowheads="1"/>
          </p:cNvSpPr>
          <p:nvPr/>
        </p:nvSpPr>
        <p:spPr>
          <a:xfrm>
            <a:off x="390537" y="222051"/>
            <a:ext cx="11926186" cy="8007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solidFill>
                  <a:srgbClr val="002060"/>
                </a:solidFill>
              </a:rPr>
              <a:t>Пример </a:t>
            </a:r>
            <a:r>
              <a:rPr lang="en-US" sz="3600" dirty="0" smtClean="0">
                <a:solidFill>
                  <a:srgbClr val="002060"/>
                </a:solidFill>
              </a:rPr>
              <a:t>4</a:t>
            </a:r>
            <a:r>
              <a:rPr lang="ru-RU" sz="3600" dirty="0" smtClean="0">
                <a:solidFill>
                  <a:srgbClr val="002060"/>
                </a:solidFill>
              </a:rPr>
              <a:t>.</a:t>
            </a:r>
            <a:endParaRPr lang="ru-RU" sz="2400" i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42547-91BD-4228-BD77-5FAD09077A6F}"/>
              </a:ext>
            </a:extLst>
          </p:cNvPr>
          <p:cNvSpPr txBox="1"/>
          <p:nvPr/>
        </p:nvSpPr>
        <p:spPr>
          <a:xfrm>
            <a:off x="3190657" y="233647"/>
            <a:ext cx="836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Напишите функцию </a:t>
            </a:r>
            <a:r>
              <a:rPr lang="ru-RU" dirty="0" err="1">
                <a:solidFill>
                  <a:srgbClr val="002060"/>
                </a:solidFill>
              </a:rPr>
              <a:t>add_numbers</a:t>
            </a:r>
            <a:r>
              <a:rPr lang="ru-RU" dirty="0">
                <a:solidFill>
                  <a:srgbClr val="002060"/>
                </a:solidFill>
              </a:rPr>
              <a:t>(a: </a:t>
            </a:r>
            <a:r>
              <a:rPr lang="ru-RU" dirty="0" err="1">
                <a:solidFill>
                  <a:srgbClr val="002060"/>
                </a:solidFill>
              </a:rPr>
              <a:t>int</a:t>
            </a:r>
            <a:r>
              <a:rPr lang="ru-RU" dirty="0">
                <a:solidFill>
                  <a:srgbClr val="002060"/>
                </a:solidFill>
              </a:rPr>
              <a:t>, b: </a:t>
            </a:r>
            <a:r>
              <a:rPr lang="ru-RU" dirty="0" err="1">
                <a:solidFill>
                  <a:srgbClr val="002060"/>
                </a:solidFill>
              </a:rPr>
              <a:t>int</a:t>
            </a:r>
            <a:r>
              <a:rPr lang="ru-RU" dirty="0">
                <a:solidFill>
                  <a:srgbClr val="002060"/>
                </a:solidFill>
              </a:rPr>
              <a:t>) -&gt; </a:t>
            </a:r>
            <a:r>
              <a:rPr lang="ru-RU" dirty="0" err="1">
                <a:solidFill>
                  <a:srgbClr val="002060"/>
                </a:solidFill>
              </a:rPr>
              <a:t>int</a:t>
            </a:r>
            <a:r>
              <a:rPr lang="ru-RU" dirty="0">
                <a:solidFill>
                  <a:srgbClr val="002060"/>
                </a:solidFill>
              </a:rPr>
              <a:t>, которая принимает два целых числа и возвращает их сумму.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628" y="1861204"/>
            <a:ext cx="7870003" cy="1938992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add_numbers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(a: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int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, b: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int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) -&gt;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int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return a + b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Пример использования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result =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add_numbers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(5, 7)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print(result)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12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366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6">
            <a:extLst>
              <a:ext uri="{FF2B5EF4-FFF2-40B4-BE49-F238E27FC236}">
                <a16:creationId xmlns:a16="http://schemas.microsoft.com/office/drawing/2014/main" id="{96C89650-059F-44B7-8CF7-08307EB6089E}"/>
              </a:ext>
            </a:extLst>
          </p:cNvPr>
          <p:cNvSpPr txBox="1">
            <a:spLocks noChangeArrowheads="1"/>
          </p:cNvSpPr>
          <p:nvPr/>
        </p:nvSpPr>
        <p:spPr>
          <a:xfrm>
            <a:off x="390537" y="222051"/>
            <a:ext cx="11926186" cy="8007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solidFill>
                  <a:srgbClr val="002060"/>
                </a:solidFill>
              </a:rPr>
              <a:t>Пример </a:t>
            </a:r>
            <a:r>
              <a:rPr lang="en-US" sz="3600" dirty="0">
                <a:solidFill>
                  <a:srgbClr val="002060"/>
                </a:solidFill>
              </a:rPr>
              <a:t>5</a:t>
            </a:r>
            <a:r>
              <a:rPr lang="ru-RU" sz="3600" dirty="0" smtClean="0">
                <a:solidFill>
                  <a:srgbClr val="002060"/>
                </a:solidFill>
              </a:rPr>
              <a:t>.</a:t>
            </a:r>
            <a:endParaRPr lang="ru-RU" sz="2400" i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42547-91BD-4228-BD77-5FAD09077A6F}"/>
              </a:ext>
            </a:extLst>
          </p:cNvPr>
          <p:cNvSpPr txBox="1"/>
          <p:nvPr/>
        </p:nvSpPr>
        <p:spPr>
          <a:xfrm>
            <a:off x="3190657" y="233647"/>
            <a:ext cx="836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rgbClr val="002060"/>
                </a:solidFill>
              </a:rPr>
              <a:t>Напишите функцию </a:t>
            </a:r>
            <a:r>
              <a:rPr lang="ru-RU" dirty="0" err="1">
                <a:solidFill>
                  <a:srgbClr val="002060"/>
                </a:solidFill>
              </a:rPr>
              <a:t>divide</a:t>
            </a:r>
            <a:r>
              <a:rPr lang="ru-RU" dirty="0">
                <a:solidFill>
                  <a:srgbClr val="002060"/>
                </a:solidFill>
              </a:rPr>
              <a:t>(a: </a:t>
            </a:r>
            <a:r>
              <a:rPr lang="ru-RU" dirty="0" err="1">
                <a:solidFill>
                  <a:srgbClr val="002060"/>
                </a:solidFill>
              </a:rPr>
              <a:t>float</a:t>
            </a:r>
            <a:r>
              <a:rPr lang="ru-RU" dirty="0">
                <a:solidFill>
                  <a:srgbClr val="002060"/>
                </a:solidFill>
              </a:rPr>
              <a:t>, b: </a:t>
            </a:r>
            <a:r>
              <a:rPr lang="ru-RU" dirty="0" err="1">
                <a:solidFill>
                  <a:srgbClr val="002060"/>
                </a:solidFill>
              </a:rPr>
              <a:t>float</a:t>
            </a:r>
            <a:r>
              <a:rPr lang="ru-RU" dirty="0">
                <a:solidFill>
                  <a:srgbClr val="002060"/>
                </a:solidFill>
              </a:rPr>
              <a:t>) -&gt; </a:t>
            </a:r>
            <a:r>
              <a:rPr lang="ru-RU" dirty="0" err="1">
                <a:solidFill>
                  <a:srgbClr val="002060"/>
                </a:solidFill>
              </a:rPr>
              <a:t>float</a:t>
            </a:r>
            <a:r>
              <a:rPr lang="ru-RU" dirty="0">
                <a:solidFill>
                  <a:srgbClr val="002060"/>
                </a:solidFill>
              </a:rPr>
              <a:t>, которая делит a на b и обрабатывает случай деления на ноль.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4" name="Text Box 301">
            <a:extLst>
              <a:ext uri="{FF2B5EF4-FFF2-40B4-BE49-F238E27FC236}">
                <a16:creationId xmlns:a16="http://schemas.microsoft.com/office/drawing/2014/main" id="{E79E28B4-714D-40CE-9DA9-7A0B24778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6076" y="1763720"/>
            <a:ext cx="8815108" cy="34778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def divide(a: float, b: float) -&gt; float: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if b == 0: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    raise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ValueError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("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Деление на ноль недопустимо.")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   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return a / b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Пример использования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print(divide(10, 2))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5.0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rgbClr val="002060"/>
                </a:solidFill>
                <a:latin typeface="Courier New"/>
              </a:rPr>
              <a:t>    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print(divide(10, 0))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ValueError</a:t>
            </a:r>
            <a:endParaRPr lang="en-US" sz="2000" b="1" dirty="0">
              <a:solidFill>
                <a:srgbClr val="00206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except </a:t>
            </a:r>
            <a:r>
              <a:rPr lang="en-US" sz="2000" b="1" dirty="0" err="1">
                <a:solidFill>
                  <a:srgbClr val="002060"/>
                </a:solidFill>
                <a:latin typeface="Courier New"/>
              </a:rPr>
              <a:t>ValueError</a:t>
            </a: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as e: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latin typeface="Courier New"/>
              </a:rPr>
              <a:t>    print(e)  # </a:t>
            </a:r>
            <a:r>
              <a:rPr lang="ru-RU" sz="2000" b="1" dirty="0">
                <a:solidFill>
                  <a:srgbClr val="002060"/>
                </a:solidFill>
                <a:latin typeface="Courier New"/>
              </a:rPr>
              <a:t>Вывод: Деление на ноль недопустимо.</a:t>
            </a:r>
            <a:endParaRPr lang="ru-RU" sz="2000" b="1" dirty="0">
              <a:solidFill>
                <a:srgbClr val="002060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9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78889" y="3075057"/>
            <a:ext cx="6434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ru-RU" sz="4000" dirty="0">
                <a:solidFill>
                  <a:srgbClr val="5B9BD5">
                    <a:lumMod val="20000"/>
                    <a:lumOff val="80000"/>
                  </a:srgbClr>
                </a:solidFill>
                <a:latin typeface="Roboto Slab"/>
              </a:rPr>
              <a:t>Спасибо за внимание =)</a:t>
            </a:r>
          </a:p>
        </p:txBody>
      </p:sp>
    </p:spTree>
    <p:extLst>
      <p:ext uri="{BB962C8B-B14F-4D97-AF65-F5344CB8AC3E}">
        <p14:creationId xmlns:p14="http://schemas.microsoft.com/office/powerpoint/2010/main" val="310694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ideouroki_fonts2">
      <a:majorFont>
        <a:latin typeface="Roboto Slab"/>
        <a:ea typeface=""/>
        <a:cs typeface=""/>
      </a:majorFont>
      <a:minorFont>
        <a:latin typeface="Open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ideouroki_fonts2">
      <a:majorFont>
        <a:latin typeface="Roboto Slab"/>
        <a:ea typeface=""/>
        <a:cs typeface=""/>
      </a:majorFont>
      <a:minorFont>
        <a:latin typeface="Open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4914</TotalTime>
  <Words>2338</Words>
  <Application>Microsoft Office PowerPoint</Application>
  <PresentationFormat>Широкоэкранный</PresentationFormat>
  <Paragraphs>329</Paragraphs>
  <Slides>34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Calibri</vt:lpstr>
      <vt:lpstr>Roboto Slab</vt:lpstr>
      <vt:lpstr>Courier New</vt:lpstr>
      <vt:lpstr>Open Sans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100</cp:revision>
  <dcterms:created xsi:type="dcterms:W3CDTF">2016-03-22T17:12:40Z</dcterms:created>
  <dcterms:modified xsi:type="dcterms:W3CDTF">2024-10-29T15:32:54Z</dcterms:modified>
</cp:coreProperties>
</file>